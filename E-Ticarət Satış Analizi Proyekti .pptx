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Prata" panose="020B0604020202020204" charset="0"/>
      <p:regular r:id="rId10"/>
    </p:embeddedFont>
    <p:embeddedFont>
      <p:font typeface="Raleway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EFAULT">
  <p:cSld name="DEFAUL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/>
          <p:nvPr/>
        </p:nvSpPr>
        <p:spPr>
          <a:xfrm>
            <a:off x="6280190" y="2001322"/>
            <a:ext cx="6822400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3550"/>
              <a:buFont typeface="Prata"/>
              <a:buNone/>
            </a:pPr>
            <a:r>
              <a:rPr lang="en-US" sz="3550" b="0" i="0" u="none" strike="noStrike" cap="non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E-Ticarət Satış Analizi Proyekti </a:t>
            </a:r>
            <a:endParaRPr sz="3550" b="0" i="0" u="none" strike="noStrike" cap="none"/>
          </a:p>
        </p:txBody>
      </p:sp>
      <p:sp>
        <p:nvSpPr>
          <p:cNvPr id="46" name="Google Shape;46;p10"/>
          <p:cNvSpPr/>
          <p:nvPr/>
        </p:nvSpPr>
        <p:spPr>
          <a:xfrm>
            <a:off x="6280190" y="2659023"/>
            <a:ext cx="744402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200"/>
              <a:buFont typeface="Prata"/>
              <a:buNone/>
            </a:pPr>
            <a:r>
              <a:rPr lang="en-US" sz="2200" b="0" i="0" u="none" strike="noStrike" cap="non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SQL vasitəsilə məlumatların təhlili və biznes analitikası</a:t>
            </a:r>
            <a:endParaRPr sz="2200" b="0" i="0" u="none" strike="noStrike" cap="none"/>
          </a:p>
        </p:txBody>
      </p:sp>
      <p:sp>
        <p:nvSpPr>
          <p:cNvPr id="47" name="Google Shape;47;p10"/>
          <p:cNvSpPr/>
          <p:nvPr/>
        </p:nvSpPr>
        <p:spPr>
          <a:xfrm>
            <a:off x="6280190" y="3353514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lang="en-US" sz="17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Bu proyektdə əsas məqsədimiz SQL vasitəsilə e-commerce satış məlumatlarını təhlil etmək, müştəri və məhsul davranışını öyrənmək, gəlir və satış trendini analiz etməkdir.</a:t>
            </a:r>
            <a:endParaRPr sz="1750" b="0" i="0" u="none" strike="noStrike" cap="none"/>
          </a:p>
        </p:txBody>
      </p:sp>
      <p:sp>
        <p:nvSpPr>
          <p:cNvPr id="48" name="Google Shape;48;p10"/>
          <p:cNvSpPr/>
          <p:nvPr/>
        </p:nvSpPr>
        <p:spPr>
          <a:xfrm>
            <a:off x="6280190" y="4697373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lang="en-US" sz="17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Məqsəd:</a:t>
            </a:r>
            <a:r>
              <a:rPr lang="en-US" sz="17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Müştəri, məhsul və satış dinamikasının kəsişməsində analizlərin aparılması.</a:t>
            </a:r>
            <a:endParaRPr sz="1750" b="0" i="0" u="none" strike="noStrike" cap="none"/>
          </a:p>
        </p:txBody>
      </p:sp>
      <p:sp>
        <p:nvSpPr>
          <p:cNvPr id="49" name="Google Shape;49;p10"/>
          <p:cNvSpPr/>
          <p:nvPr/>
        </p:nvSpPr>
        <p:spPr>
          <a:xfrm>
            <a:off x="6280190" y="5502473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lang="en-US" sz="17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Hədəf:</a:t>
            </a:r>
            <a:r>
              <a:rPr lang="en-US" sz="17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Ən yaxşı məhsulları, effektiv müştəri seqmentlərini və satış trendini müəyyən edərək bazarda rəqabət üstünlüyü qazanmaq.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/>
          <p:nvPr/>
        </p:nvSpPr>
        <p:spPr>
          <a:xfrm>
            <a:off x="567809" y="414651"/>
            <a:ext cx="5717858" cy="50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3150"/>
              <a:buFont typeface="Prata"/>
              <a:buNone/>
            </a:pPr>
            <a:r>
              <a:rPr lang="en-US" sz="31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İstifadə</a:t>
            </a:r>
            <a:r>
              <a:rPr lang="en-US" sz="31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Edilən SQL </a:t>
            </a:r>
            <a:r>
              <a:rPr lang="en-US" sz="31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Skriptləri</a:t>
            </a:r>
            <a:endParaRPr sz="3150" b="0" i="0" u="none" strike="noStrike" cap="none" dirty="0"/>
          </a:p>
        </p:txBody>
      </p:sp>
      <p:sp>
        <p:nvSpPr>
          <p:cNvPr id="57" name="Google Shape;57;p11"/>
          <p:cNvSpPr/>
          <p:nvPr/>
        </p:nvSpPr>
        <p:spPr>
          <a:xfrm>
            <a:off x="567809" y="1124630"/>
            <a:ext cx="8008382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250"/>
              <a:buFont typeface="Raleway"/>
              <a:buNone/>
            </a:pP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Analiz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prosesi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üçün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xüsusi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olaraq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hazırlanmış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SQL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skriptləri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satış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məlumatlarından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kritik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insightları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çıxarmaq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üçün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istifadə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edilmişdir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 Bu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skriptlər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vasitəsilə</a:t>
            </a:r>
            <a:endParaRPr sz="1250" b="0" i="0" u="none" strike="noStrike" cap="none" dirty="0"/>
          </a:p>
        </p:txBody>
      </p:sp>
      <p:sp>
        <p:nvSpPr>
          <p:cNvPr id="61" name="Google Shape;61;p11"/>
          <p:cNvSpPr/>
          <p:nvPr/>
        </p:nvSpPr>
        <p:spPr>
          <a:xfrm>
            <a:off x="567809" y="6102906"/>
            <a:ext cx="8008382" cy="259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250"/>
              <a:buFont typeface="Raleway"/>
              <a:buNone/>
            </a:pP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məlumat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bazaları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üzərində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analizlər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aparılmışdır</a:t>
            </a:r>
            <a:r>
              <a:rPr lang="en-US" sz="12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250" b="0" i="0" u="none" strike="noStrike" cap="none" dirty="0"/>
          </a:p>
        </p:txBody>
      </p:sp>
      <p:sp>
        <p:nvSpPr>
          <p:cNvPr id="62" name="Google Shape;62;p11"/>
          <p:cNvSpPr/>
          <p:nvPr/>
        </p:nvSpPr>
        <p:spPr>
          <a:xfrm>
            <a:off x="567809" y="6102906"/>
            <a:ext cx="8008382" cy="259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26352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endParaRPr sz="1250" b="0" i="0" u="none" strike="noStrike" cap="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FF5330-65B1-D330-6AA1-928D9130B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37" y="2126694"/>
            <a:ext cx="3027419" cy="35135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5E21D3-BAFB-C05A-6C74-AA62ABA76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716" y="2147903"/>
            <a:ext cx="2858333" cy="3447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667E12-020A-6404-F7E7-1B98D371F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309" y="2126694"/>
            <a:ext cx="2862147" cy="34473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197298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/>
          <p:nvPr/>
        </p:nvSpPr>
        <p:spPr>
          <a:xfrm>
            <a:off x="2323386" y="2531745"/>
            <a:ext cx="8106608" cy="493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193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3100"/>
              <a:buFont typeface="Prata"/>
              <a:buNone/>
            </a:pPr>
            <a:r>
              <a:rPr lang="en-US" sz="3100" b="1" i="0" u="none" strike="noStrike" cap="non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Biz bu analizlə nəyi aşkar etməyə çalışırıq?</a:t>
            </a:r>
            <a:endParaRPr sz="3100" b="0" i="0" u="none" strike="noStrike" cap="none"/>
          </a:p>
        </p:txBody>
      </p:sp>
      <p:sp>
        <p:nvSpPr>
          <p:cNvPr id="70" name="Google Shape;70;p12"/>
          <p:cNvSpPr/>
          <p:nvPr/>
        </p:nvSpPr>
        <p:spPr>
          <a:xfrm>
            <a:off x="2323386" y="3261598"/>
            <a:ext cx="9983629" cy="50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200"/>
              <a:buFont typeface="Raleway"/>
              <a:buNone/>
            </a:pPr>
            <a:r>
              <a:rPr lang="en-US" sz="12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Aparılan analizlər nəticəsində e-ticarət bazarında əhəmiyyətli insightlar əldə edilmişdir. Bu tapıntılar gələcək satış strategiyalarının formalaşdırılması üçün vacib məlumatlar verir.</a:t>
            </a:r>
            <a:endParaRPr sz="1200" b="0" i="0" u="none" strike="noStrike" cap="none"/>
          </a:p>
        </p:txBody>
      </p:sp>
      <p:sp>
        <p:nvSpPr>
          <p:cNvPr id="71" name="Google Shape;71;p12"/>
          <p:cNvSpPr/>
          <p:nvPr/>
        </p:nvSpPr>
        <p:spPr>
          <a:xfrm>
            <a:off x="2323386" y="4180880"/>
            <a:ext cx="4912876" cy="1674019"/>
          </a:xfrm>
          <a:prstGeom prst="roundRect">
            <a:avLst>
              <a:gd name="adj" fmla="val 6555"/>
            </a:avLst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3386" y="4158020"/>
            <a:ext cx="4912876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3008" y="3944183"/>
            <a:ext cx="473512" cy="4735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2"/>
          <p:cNvSpPr/>
          <p:nvPr/>
        </p:nvSpPr>
        <p:spPr>
          <a:xfrm>
            <a:off x="4685050" y="4062532"/>
            <a:ext cx="189309" cy="23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Prata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1</a:t>
            </a:r>
            <a:endParaRPr sz="1450" b="0" i="0" u="none" strike="noStrike" cap="none"/>
          </a:p>
        </p:txBody>
      </p:sp>
      <p:sp>
        <p:nvSpPr>
          <p:cNvPr id="75" name="Google Shape;75;p12"/>
          <p:cNvSpPr/>
          <p:nvPr/>
        </p:nvSpPr>
        <p:spPr>
          <a:xfrm>
            <a:off x="2504003" y="4575453"/>
            <a:ext cx="1972985" cy="246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50"/>
              <a:buFont typeface="Prata"/>
              <a:buNone/>
            </a:pPr>
            <a:r>
              <a:rPr lang="en-US" sz="155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Müştəri davranışı</a:t>
            </a:r>
            <a:endParaRPr sz="1550" b="0" i="0" u="none" strike="noStrike" cap="none"/>
          </a:p>
        </p:txBody>
      </p:sp>
      <p:sp>
        <p:nvSpPr>
          <p:cNvPr id="76" name="Google Shape;76;p12"/>
          <p:cNvSpPr/>
          <p:nvPr/>
        </p:nvSpPr>
        <p:spPr>
          <a:xfrm>
            <a:off x="2504003" y="4916686"/>
            <a:ext cx="4551640" cy="25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200"/>
              <a:buFont typeface="Raleway"/>
              <a:buNone/>
            </a:pPr>
            <a:r>
              <a:rPr lang="en-US" sz="12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Ən çox alış edən müştərilər hansılardır?</a:t>
            </a:r>
            <a:endParaRPr sz="1200" b="0" i="0" u="none" strike="noStrike" cap="none"/>
          </a:p>
        </p:txBody>
      </p:sp>
      <p:sp>
        <p:nvSpPr>
          <p:cNvPr id="77" name="Google Shape;77;p12"/>
          <p:cNvSpPr/>
          <p:nvPr/>
        </p:nvSpPr>
        <p:spPr>
          <a:xfrm>
            <a:off x="7394019" y="4180880"/>
            <a:ext cx="4912995" cy="1674019"/>
          </a:xfrm>
          <a:prstGeom prst="roundRect">
            <a:avLst>
              <a:gd name="adj" fmla="val 6555"/>
            </a:avLst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4019" y="4158020"/>
            <a:ext cx="4912995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13761" y="3944183"/>
            <a:ext cx="473512" cy="47351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/>
          <p:nvPr/>
        </p:nvSpPr>
        <p:spPr>
          <a:xfrm>
            <a:off x="9755803" y="4062532"/>
            <a:ext cx="189309" cy="23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Prata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  <a:endParaRPr sz="1450" b="0" i="0" u="none" strike="noStrike" cap="none"/>
          </a:p>
        </p:txBody>
      </p:sp>
      <p:sp>
        <p:nvSpPr>
          <p:cNvPr id="81" name="Google Shape;81;p12"/>
          <p:cNvSpPr/>
          <p:nvPr/>
        </p:nvSpPr>
        <p:spPr>
          <a:xfrm>
            <a:off x="7574637" y="4575453"/>
            <a:ext cx="1972985" cy="246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50"/>
              <a:buFont typeface="Prata"/>
              <a:buNone/>
            </a:pPr>
            <a:r>
              <a:rPr lang="en-US" sz="155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Ödəniş Üsulları</a:t>
            </a:r>
            <a:endParaRPr sz="1550" b="0" i="0" u="none" strike="noStrike" cap="none"/>
          </a:p>
        </p:txBody>
      </p:sp>
      <p:sp>
        <p:nvSpPr>
          <p:cNvPr id="82" name="Google Shape;82;p12"/>
          <p:cNvSpPr/>
          <p:nvPr/>
        </p:nvSpPr>
        <p:spPr>
          <a:xfrm>
            <a:off x="7574637" y="4916686"/>
            <a:ext cx="4551759" cy="75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200"/>
              <a:buFont typeface="Raleway"/>
              <a:buNone/>
            </a:pPr>
            <a:r>
              <a:rPr lang="en-US" sz="12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Müştərilərin 35%-i nağd 34%-i transfer 31%-i isə kart ilə ödəniş edir. Bu, ödənişlərin demək olarki bərabər şəkildə qəbul edildiyini və güvənli olduğunu göstərir.</a:t>
            </a:r>
            <a:endParaRPr sz="1200" b="0" i="0" u="none" strike="noStrike" cap="none"/>
          </a:p>
        </p:txBody>
      </p:sp>
      <p:sp>
        <p:nvSpPr>
          <p:cNvPr id="83" name="Google Shape;83;p12"/>
          <p:cNvSpPr/>
          <p:nvPr/>
        </p:nvSpPr>
        <p:spPr>
          <a:xfrm>
            <a:off x="2323386" y="6249353"/>
            <a:ext cx="4912876" cy="1421487"/>
          </a:xfrm>
          <a:prstGeom prst="roundRect">
            <a:avLst>
              <a:gd name="adj" fmla="val 7719"/>
            </a:avLst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3386" y="6226493"/>
            <a:ext cx="4912876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3008" y="6012656"/>
            <a:ext cx="473512" cy="47351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/>
          <p:nvPr/>
        </p:nvSpPr>
        <p:spPr>
          <a:xfrm>
            <a:off x="4685050" y="6131004"/>
            <a:ext cx="189309" cy="23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Prata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3</a:t>
            </a:r>
            <a:endParaRPr sz="1450" b="0" i="0" u="none" strike="noStrike" cap="none"/>
          </a:p>
        </p:txBody>
      </p:sp>
      <p:sp>
        <p:nvSpPr>
          <p:cNvPr id="87" name="Google Shape;87;p12"/>
          <p:cNvSpPr/>
          <p:nvPr/>
        </p:nvSpPr>
        <p:spPr>
          <a:xfrm>
            <a:off x="2504003" y="6643926"/>
            <a:ext cx="2551867" cy="246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50"/>
              <a:buFont typeface="Prata"/>
              <a:buNone/>
            </a:pPr>
            <a:r>
              <a:rPr lang="en-US" sz="155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Ən Aktiv Müştəri Seqmenti</a:t>
            </a:r>
            <a:endParaRPr sz="1550" b="0" i="0" u="none" strike="noStrike" cap="none"/>
          </a:p>
        </p:txBody>
      </p:sp>
      <p:sp>
        <p:nvSpPr>
          <p:cNvPr id="88" name="Google Shape;88;p12"/>
          <p:cNvSpPr/>
          <p:nvPr/>
        </p:nvSpPr>
        <p:spPr>
          <a:xfrm>
            <a:off x="2504003" y="6985159"/>
            <a:ext cx="4551640" cy="50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200"/>
              <a:buFont typeface="Raleway"/>
              <a:buNone/>
            </a:pPr>
            <a:r>
              <a:rPr lang="en-US" sz="12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50+ yaş arası müştərilər ən aktiv alış-veriş edən seqmentdir. Bu demoqrafik qrup hədəf kütlənin əsas hissəsini təşkil edir.</a:t>
            </a:r>
            <a:endParaRPr sz="1200" b="0" i="0" u="none" strike="noStrike" cap="none"/>
          </a:p>
        </p:txBody>
      </p:sp>
      <p:sp>
        <p:nvSpPr>
          <p:cNvPr id="89" name="Google Shape;89;p12"/>
          <p:cNvSpPr/>
          <p:nvPr/>
        </p:nvSpPr>
        <p:spPr>
          <a:xfrm>
            <a:off x="7394019" y="6249353"/>
            <a:ext cx="4912995" cy="1421487"/>
          </a:xfrm>
          <a:prstGeom prst="roundRect">
            <a:avLst>
              <a:gd name="adj" fmla="val 7719"/>
            </a:avLst>
          </a:prstGeom>
          <a:solidFill>
            <a:srgbClr val="1B1C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" name="Google Shape;90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4019" y="6226493"/>
            <a:ext cx="4912995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13761" y="6012656"/>
            <a:ext cx="473512" cy="4735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/>
          <p:nvPr/>
        </p:nvSpPr>
        <p:spPr>
          <a:xfrm>
            <a:off x="9755803" y="6131004"/>
            <a:ext cx="189309" cy="23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Prata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4</a:t>
            </a:r>
            <a:endParaRPr sz="1450" b="0" i="0" u="none" strike="noStrike" cap="none"/>
          </a:p>
        </p:txBody>
      </p:sp>
      <p:sp>
        <p:nvSpPr>
          <p:cNvPr id="93" name="Google Shape;93;p12"/>
          <p:cNvSpPr/>
          <p:nvPr/>
        </p:nvSpPr>
        <p:spPr>
          <a:xfrm>
            <a:off x="7574637" y="6643926"/>
            <a:ext cx="2557105" cy="246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50"/>
              <a:buFont typeface="Prata"/>
              <a:buNone/>
            </a:pPr>
            <a:r>
              <a:rPr lang="en-US" sz="155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Satışların Mövsümi düşüşü</a:t>
            </a:r>
            <a:endParaRPr sz="1550" b="0" i="0" u="none" strike="noStrike" cap="none"/>
          </a:p>
        </p:txBody>
      </p:sp>
      <p:sp>
        <p:nvSpPr>
          <p:cNvPr id="94" name="Google Shape;94;p12"/>
          <p:cNvSpPr/>
          <p:nvPr/>
        </p:nvSpPr>
        <p:spPr>
          <a:xfrm>
            <a:off x="7574637" y="6985159"/>
            <a:ext cx="4551759" cy="25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200"/>
              <a:buFont typeface="Raleway"/>
              <a:buNone/>
            </a:pPr>
            <a:r>
              <a:rPr lang="en-US" sz="12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Satışlar ilin son rübündə 40% düşüş göstərir. </a:t>
            </a:r>
            <a:endParaRPr sz="120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/>
          <p:nvPr/>
        </p:nvSpPr>
        <p:spPr>
          <a:xfrm>
            <a:off x="5985748" y="848916"/>
            <a:ext cx="3991451" cy="445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800"/>
              <a:buFont typeface="Prata"/>
              <a:buNone/>
            </a:pPr>
            <a:r>
              <a:rPr lang="en-US" sz="2800" b="0" i="0" u="none" strike="noStrike" cap="non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Məhsul, Müştəri, Trend</a:t>
            </a:r>
            <a:endParaRPr sz="2800" b="0" i="0" u="none" strike="noStrike" cap="none"/>
          </a:p>
        </p:txBody>
      </p:sp>
      <p:sp>
        <p:nvSpPr>
          <p:cNvPr id="102" name="Google Shape;102;p13"/>
          <p:cNvSpPr/>
          <p:nvPr/>
        </p:nvSpPr>
        <p:spPr>
          <a:xfrm>
            <a:off x="5985748" y="1508760"/>
            <a:ext cx="8145304" cy="45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lang="en-US" sz="11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Analizlər nəticəsində müəyyən edilmiş əsas tapıntılar, e-ticarət platformasının gələcək inkişaf istiqamətlərini müəyyən etməyə kömək edir.</a:t>
            </a:r>
            <a:endParaRPr sz="1100" b="0" i="0" u="none" strike="noStrike" cap="none"/>
          </a:p>
        </p:txBody>
      </p:sp>
      <p:sp>
        <p:nvSpPr>
          <p:cNvPr id="103" name="Google Shape;103;p13"/>
          <p:cNvSpPr/>
          <p:nvPr/>
        </p:nvSpPr>
        <p:spPr>
          <a:xfrm>
            <a:off x="5985748" y="2125504"/>
            <a:ext cx="8145304" cy="5255181"/>
          </a:xfrm>
          <a:prstGeom prst="roundRect">
            <a:avLst>
              <a:gd name="adj" fmla="val 407"/>
            </a:avLst>
          </a:prstGeom>
          <a:solidFill>
            <a:srgbClr val="3A3B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5985748" y="2125504"/>
            <a:ext cx="8145304" cy="1263848"/>
          </a:xfrm>
          <a:prstGeom prst="roundRect">
            <a:avLst>
              <a:gd name="adj" fmla="val 1693"/>
            </a:avLst>
          </a:prstGeom>
          <a:solidFill>
            <a:srgbClr val="3A3B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6128385" y="2268141"/>
            <a:ext cx="1783437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lang="en-US" sz="140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Ən Yaxşı Məhsullar</a:t>
            </a:r>
            <a:endParaRPr sz="1400" b="0" i="0" u="none" strike="noStrike" cap="none"/>
          </a:p>
        </p:txBody>
      </p:sp>
      <p:sp>
        <p:nvSpPr>
          <p:cNvPr id="106" name="Google Shape;106;p13"/>
          <p:cNvSpPr/>
          <p:nvPr/>
        </p:nvSpPr>
        <p:spPr>
          <a:xfrm>
            <a:off x="6128385" y="2576513"/>
            <a:ext cx="7860030" cy="45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lang="en-US" sz="11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Product 21, Product 22, Product 11, Product 93, Product 88  ən yüksək satış potensialına malikdir. Bu məhsullar əsas diqqət mərkəzində olmalıdır.</a:t>
            </a:r>
            <a:endParaRPr sz="1100" b="0" i="0" u="none" strike="noStrike" cap="none"/>
          </a:p>
        </p:txBody>
      </p:sp>
      <p:sp>
        <p:nvSpPr>
          <p:cNvPr id="107" name="Google Shape;107;p13"/>
          <p:cNvSpPr/>
          <p:nvPr/>
        </p:nvSpPr>
        <p:spPr>
          <a:xfrm>
            <a:off x="5985748" y="3389352"/>
            <a:ext cx="8145304" cy="1249680"/>
          </a:xfrm>
          <a:prstGeom prst="rect">
            <a:avLst/>
          </a:prstGeom>
          <a:solidFill>
            <a:srgbClr val="3A3B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5985748" y="3389352"/>
            <a:ext cx="8145304" cy="15240"/>
          </a:xfrm>
          <a:prstGeom prst="roundRect">
            <a:avLst>
              <a:gd name="adj" fmla="val 140429"/>
            </a:avLst>
          </a:prstGeom>
          <a:solidFill>
            <a:srgbClr val="5354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9880044" y="3218676"/>
            <a:ext cx="356592" cy="356592"/>
          </a:xfrm>
          <a:prstGeom prst="roundRect">
            <a:avLst>
              <a:gd name="adj" fmla="val 6002"/>
            </a:avLst>
          </a:prstGeom>
          <a:solidFill>
            <a:srgbClr val="1B1C1D"/>
          </a:solidFill>
          <a:ln w="15225" cap="flat" cmpd="sng">
            <a:solidFill>
              <a:srgbClr val="5354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69222" y="3307735"/>
            <a:ext cx="178237" cy="17823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6128385" y="3745944"/>
            <a:ext cx="1783437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lang="en-US" sz="140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Müştəri Seqmentləri</a:t>
            </a:r>
            <a:endParaRPr sz="1400" b="0" i="0" u="none" strike="noStrike" cap="none"/>
          </a:p>
        </p:txBody>
      </p:sp>
      <p:sp>
        <p:nvSpPr>
          <p:cNvPr id="112" name="Google Shape;112;p13"/>
          <p:cNvSpPr/>
          <p:nvPr/>
        </p:nvSpPr>
        <p:spPr>
          <a:xfrm>
            <a:off x="6128385" y="4054316"/>
            <a:ext cx="7860030" cy="228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lang="en-US" sz="11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50 Yaş üstü insanlar e-ticarət üçün əsas hədəf qruplardır. Onların ehtiyaclarına uyğun kampaniyalar qurulmalıdır.</a:t>
            </a:r>
            <a:endParaRPr sz="1100" b="0" i="0" u="none" strike="noStrike" cap="none"/>
          </a:p>
        </p:txBody>
      </p:sp>
      <p:sp>
        <p:nvSpPr>
          <p:cNvPr id="113" name="Google Shape;113;p13"/>
          <p:cNvSpPr/>
          <p:nvPr/>
        </p:nvSpPr>
        <p:spPr>
          <a:xfrm>
            <a:off x="5985748" y="4639032"/>
            <a:ext cx="8145304" cy="1477804"/>
          </a:xfrm>
          <a:prstGeom prst="rect">
            <a:avLst/>
          </a:prstGeom>
          <a:solidFill>
            <a:srgbClr val="3A3B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5985748" y="4639032"/>
            <a:ext cx="8145304" cy="15240"/>
          </a:xfrm>
          <a:prstGeom prst="roundRect">
            <a:avLst>
              <a:gd name="adj" fmla="val 140429"/>
            </a:avLst>
          </a:prstGeom>
          <a:solidFill>
            <a:srgbClr val="5354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9880044" y="4468356"/>
            <a:ext cx="356592" cy="356592"/>
          </a:xfrm>
          <a:prstGeom prst="roundRect">
            <a:avLst>
              <a:gd name="adj" fmla="val 6002"/>
            </a:avLst>
          </a:prstGeom>
          <a:solidFill>
            <a:srgbClr val="1B1C1D"/>
          </a:solidFill>
          <a:ln w="15225" cap="flat" cmpd="sng">
            <a:solidFill>
              <a:srgbClr val="5354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69222" y="4557415"/>
            <a:ext cx="178237" cy="17823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6128385" y="4995624"/>
            <a:ext cx="1783437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lang="en-US" sz="140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Satış Trendi</a:t>
            </a:r>
            <a:endParaRPr sz="1400" b="0" i="0" u="none" strike="noStrike" cap="none"/>
          </a:p>
        </p:txBody>
      </p:sp>
      <p:sp>
        <p:nvSpPr>
          <p:cNvPr id="118" name="Google Shape;118;p13"/>
          <p:cNvSpPr/>
          <p:nvPr/>
        </p:nvSpPr>
        <p:spPr>
          <a:xfrm>
            <a:off x="6128385" y="5303996"/>
            <a:ext cx="7860030" cy="45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lang="en-US" sz="11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Online satışlar 2024-ci ildə 2.71% artıb. Bu, e-ticarətin yavaşda olsa inkişafda olduğunu ​göstərir. Marketingin gücləndirilməsi vacibdir.​</a:t>
            </a:r>
            <a:endParaRPr sz="1100" b="0" i="0" u="none" strike="noStrike" cap="none"/>
          </a:p>
        </p:txBody>
      </p:sp>
      <p:sp>
        <p:nvSpPr>
          <p:cNvPr id="119" name="Google Shape;119;p13"/>
          <p:cNvSpPr/>
          <p:nvPr/>
        </p:nvSpPr>
        <p:spPr>
          <a:xfrm>
            <a:off x="5985748" y="6116836"/>
            <a:ext cx="8145304" cy="1263848"/>
          </a:xfrm>
          <a:prstGeom prst="rect">
            <a:avLst/>
          </a:prstGeom>
          <a:solidFill>
            <a:srgbClr val="3A3B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5985748" y="6116836"/>
            <a:ext cx="8145304" cy="15240"/>
          </a:xfrm>
          <a:prstGeom prst="roundRect">
            <a:avLst>
              <a:gd name="adj" fmla="val 140429"/>
            </a:avLst>
          </a:prstGeom>
          <a:solidFill>
            <a:srgbClr val="5354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9880044" y="5946160"/>
            <a:ext cx="356592" cy="356592"/>
          </a:xfrm>
          <a:prstGeom prst="roundRect">
            <a:avLst>
              <a:gd name="adj" fmla="val 6002"/>
            </a:avLst>
          </a:prstGeom>
          <a:solidFill>
            <a:srgbClr val="1B1C1D"/>
          </a:solidFill>
          <a:ln w="15225" cap="flat" cmpd="sng">
            <a:solidFill>
              <a:srgbClr val="5354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69222" y="6035219"/>
            <a:ext cx="178237" cy="17823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/>
          <p:nvPr/>
        </p:nvSpPr>
        <p:spPr>
          <a:xfrm>
            <a:off x="6128385" y="6473428"/>
            <a:ext cx="1783437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lang="en-US" sz="140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Ödəniş Üsulları</a:t>
            </a:r>
            <a:endParaRPr sz="1400" b="0" i="0" u="none" strike="noStrike" cap="none"/>
          </a:p>
        </p:txBody>
      </p:sp>
      <p:sp>
        <p:nvSpPr>
          <p:cNvPr id="124" name="Google Shape;124;p13"/>
          <p:cNvSpPr/>
          <p:nvPr/>
        </p:nvSpPr>
        <p:spPr>
          <a:xfrm>
            <a:off x="6128385" y="6781800"/>
            <a:ext cx="7860030" cy="45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lang="en-US" sz="11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Ödənişlər müştərilər arasında bərabər paylanmışdır. Satışın online aparıldığı nəzərə alınaraq kart ilə ödəniş sistemlərinin təkmilləşdirilməsi vacibdir..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/>
          <p:nvPr/>
        </p:nvSpPr>
        <p:spPr>
          <a:xfrm>
            <a:off x="1224558" y="730568"/>
            <a:ext cx="7273528" cy="601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3750"/>
              <a:buFont typeface="Prata"/>
              <a:buNone/>
            </a:pPr>
            <a:r>
              <a:rPr lang="en-US" sz="3750" b="0" i="0" u="none" strike="noStrike" cap="non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Vizual Qrafiklər və Pivot Analizi</a:t>
            </a:r>
            <a:endParaRPr sz="3750" b="0" i="0" u="none" strike="noStrike" cap="none"/>
          </a:p>
        </p:txBody>
      </p:sp>
      <p:sp>
        <p:nvSpPr>
          <p:cNvPr id="131" name="Google Shape;131;p14"/>
          <p:cNvSpPr/>
          <p:nvPr/>
        </p:nvSpPr>
        <p:spPr>
          <a:xfrm>
            <a:off x="1224558" y="1717596"/>
            <a:ext cx="12181284" cy="6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en-US" sz="15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Məlumatların daha aydın təqdimatı üçün vizual qrafiklər və pivot analizləri hazırlanmışdır. Bu vizualizasiyalar mürəkkəb məlumatları asanlıqla başa düşülən hala gətirir.</a:t>
            </a:r>
            <a:endParaRPr sz="1500" b="0" i="0" u="none" strike="noStrike" cap="none"/>
          </a:p>
        </p:txBody>
      </p:sp>
      <p:pic>
        <p:nvPicPr>
          <p:cNvPr id="132" name="Google Shape;13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4558" y="2767013"/>
            <a:ext cx="3746778" cy="118491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/>
          <p:nvPr/>
        </p:nvSpPr>
        <p:spPr>
          <a:xfrm>
            <a:off x="1224558" y="3982402"/>
            <a:ext cx="192524" cy="192524"/>
          </a:xfrm>
          <a:prstGeom prst="roundRect">
            <a:avLst>
              <a:gd name="adj" fmla="val 9499"/>
            </a:avLst>
          </a:prstGeom>
          <a:solidFill>
            <a:srgbClr val="443D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1478042" y="3982402"/>
            <a:ext cx="545068" cy="19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en-US" sz="15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  <a:endParaRPr sz="1500" b="0" i="0" u="none" strike="noStrike" cap="none"/>
          </a:p>
        </p:txBody>
      </p:sp>
      <p:sp>
        <p:nvSpPr>
          <p:cNvPr id="135" name="Google Shape;135;p14"/>
          <p:cNvSpPr/>
          <p:nvPr/>
        </p:nvSpPr>
        <p:spPr>
          <a:xfrm>
            <a:off x="3174087" y="3982402"/>
            <a:ext cx="192524" cy="192524"/>
          </a:xfrm>
          <a:prstGeom prst="roundRect">
            <a:avLst>
              <a:gd name="adj" fmla="val 9499"/>
            </a:avLst>
          </a:prstGeom>
          <a:solidFill>
            <a:srgbClr val="8C7F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3427571" y="3982402"/>
            <a:ext cx="496729" cy="19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Toy</a:t>
            </a:r>
            <a:r>
              <a:rPr lang="az-Latn-AZ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endParaRPr sz="1500" b="0" i="0" u="none" strike="noStrike" cap="none" dirty="0"/>
          </a:p>
        </p:txBody>
      </p:sp>
      <p:sp>
        <p:nvSpPr>
          <p:cNvPr id="137" name="Google Shape;137;p14"/>
          <p:cNvSpPr/>
          <p:nvPr/>
        </p:nvSpPr>
        <p:spPr>
          <a:xfrm>
            <a:off x="1224558" y="4327446"/>
            <a:ext cx="192524" cy="192524"/>
          </a:xfrm>
          <a:prstGeom prst="roundRect">
            <a:avLst>
              <a:gd name="adj" fmla="val 9499"/>
            </a:avLst>
          </a:prstGeom>
          <a:solidFill>
            <a:srgbClr val="D4C0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1478042" y="4327446"/>
            <a:ext cx="552450" cy="19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en-US" sz="15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Books</a:t>
            </a:r>
            <a:endParaRPr sz="1500" b="0" i="0" u="none" strike="noStrike" cap="none"/>
          </a:p>
        </p:txBody>
      </p:sp>
      <p:sp>
        <p:nvSpPr>
          <p:cNvPr id="139" name="Google Shape;139;p14"/>
          <p:cNvSpPr/>
          <p:nvPr/>
        </p:nvSpPr>
        <p:spPr>
          <a:xfrm>
            <a:off x="3174087" y="4327446"/>
            <a:ext cx="192524" cy="192524"/>
          </a:xfrm>
          <a:prstGeom prst="roundRect">
            <a:avLst>
              <a:gd name="adj" fmla="val 9499"/>
            </a:avLst>
          </a:prstGeom>
          <a:solidFill>
            <a:srgbClr val="E9DA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3427571" y="4327446"/>
            <a:ext cx="984766" cy="19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Electronics</a:t>
            </a:r>
            <a:endParaRPr sz="1500" b="0" i="0" u="none" strike="noStrike" cap="none" dirty="0"/>
          </a:p>
        </p:txBody>
      </p:sp>
      <p:sp>
        <p:nvSpPr>
          <p:cNvPr id="141" name="Google Shape;141;p14"/>
          <p:cNvSpPr/>
          <p:nvPr/>
        </p:nvSpPr>
        <p:spPr>
          <a:xfrm>
            <a:off x="1224558" y="4672489"/>
            <a:ext cx="192524" cy="192524"/>
          </a:xfrm>
          <a:prstGeom prst="roundRect">
            <a:avLst>
              <a:gd name="adj" fmla="val 9499"/>
            </a:avLst>
          </a:prstGeom>
          <a:solidFill>
            <a:srgbClr val="F3EA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1478042" y="4672489"/>
            <a:ext cx="747474" cy="19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en-US" sz="15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Clothing</a:t>
            </a:r>
            <a:endParaRPr sz="1500" b="0" i="0" u="none" strike="noStrike" cap="none"/>
          </a:p>
        </p:txBody>
      </p:sp>
      <p:sp>
        <p:nvSpPr>
          <p:cNvPr id="143" name="Google Shape;143;p14"/>
          <p:cNvSpPr/>
          <p:nvPr/>
        </p:nvSpPr>
        <p:spPr>
          <a:xfrm>
            <a:off x="1224558" y="5081707"/>
            <a:ext cx="3746778" cy="601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850"/>
              <a:buFont typeface="Prata"/>
              <a:buNone/>
            </a:pPr>
            <a:r>
              <a:rPr lang="en-US" sz="1850" b="0" i="0" u="none" strike="noStrike" cap="non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Məhsul Kateqoriyalarına görə Satış Payı</a:t>
            </a:r>
            <a:endParaRPr sz="1850" b="0" i="0" u="none" strike="noStrike" cap="none"/>
          </a:p>
        </p:txBody>
      </p:sp>
      <p:sp>
        <p:nvSpPr>
          <p:cNvPr id="144" name="Google Shape;144;p14"/>
          <p:cNvSpPr/>
          <p:nvPr/>
        </p:nvSpPr>
        <p:spPr>
          <a:xfrm>
            <a:off x="1224558" y="6030040"/>
            <a:ext cx="3746778" cy="30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Home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ən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böyük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satış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payına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malikdir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500" b="0" i="0" u="none" strike="noStrike" cap="none" dirty="0"/>
          </a:p>
        </p:txBody>
      </p:sp>
      <p:pic>
        <p:nvPicPr>
          <p:cNvPr id="145" name="Google Shape;145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8776" y="2767013"/>
            <a:ext cx="3747968" cy="209883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5448776" y="5082421"/>
            <a:ext cx="3747968" cy="601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850"/>
              <a:buFont typeface="Prata"/>
              <a:buNone/>
            </a:pPr>
            <a:r>
              <a:rPr lang="en-US" sz="18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Müştəri</a:t>
            </a:r>
            <a:r>
              <a:rPr lang="en-US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</a:t>
            </a:r>
            <a:r>
              <a:rPr lang="en-US" sz="18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Yaş</a:t>
            </a:r>
            <a:r>
              <a:rPr lang="en-US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</a:t>
            </a:r>
            <a:r>
              <a:rPr lang="en-US" sz="18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Qruplarına</a:t>
            </a:r>
            <a:r>
              <a:rPr lang="en-US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</a:t>
            </a:r>
            <a:r>
              <a:rPr lang="en-US" sz="18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görə</a:t>
            </a:r>
            <a:r>
              <a:rPr lang="en-US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</a:t>
            </a:r>
            <a:r>
              <a:rPr lang="en-US" sz="18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ən</a:t>
            </a:r>
            <a:r>
              <a:rPr lang="en-US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</a:t>
            </a:r>
            <a:r>
              <a:rPr lang="en-US" sz="18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yüksək</a:t>
            </a:r>
            <a:r>
              <a:rPr lang="en-US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</a:t>
            </a:r>
            <a:r>
              <a:rPr lang="en-US" sz="18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alış</a:t>
            </a:r>
            <a:r>
              <a:rPr lang="en-US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</a:t>
            </a:r>
            <a:r>
              <a:rPr lang="en-US" sz="18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faizinə</a:t>
            </a:r>
            <a:r>
              <a:rPr lang="en-US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</a:t>
            </a:r>
            <a:r>
              <a:rPr lang="en-US" sz="1850" b="0" i="0" u="none" strike="noStrike" cap="none" dirty="0" err="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sahibdir</a:t>
            </a:r>
            <a:r>
              <a:rPr lang="en-US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.</a:t>
            </a:r>
            <a:endParaRPr sz="1850" b="0" i="0" u="none" strike="noStrike" cap="none" dirty="0"/>
          </a:p>
        </p:txBody>
      </p:sp>
      <p:sp>
        <p:nvSpPr>
          <p:cNvPr id="147" name="Google Shape;147;p14"/>
          <p:cNvSpPr/>
          <p:nvPr/>
        </p:nvSpPr>
        <p:spPr>
          <a:xfrm>
            <a:off x="5448776" y="6030040"/>
            <a:ext cx="3747968" cy="6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50+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yaş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qrupu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ən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yüksək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ortalama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xərcləməyə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50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malikdir</a:t>
            </a:r>
            <a:r>
              <a:rPr lang="en-US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500" b="0" i="0" u="none" strike="noStrike" cap="none" dirty="0"/>
          </a:p>
        </p:txBody>
      </p:sp>
      <p:pic>
        <p:nvPicPr>
          <p:cNvPr id="148" name="Google Shape;148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57065" y="2767013"/>
            <a:ext cx="3381018" cy="198191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>
            <a:off x="9674185" y="4965502"/>
            <a:ext cx="3746778" cy="30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endParaRPr sz="1500" b="0" i="0" u="none" strike="noStrike" cap="none"/>
          </a:p>
        </p:txBody>
      </p:sp>
      <p:sp>
        <p:nvSpPr>
          <p:cNvPr id="150" name="Google Shape;150;p14"/>
          <p:cNvSpPr/>
          <p:nvPr/>
        </p:nvSpPr>
        <p:spPr>
          <a:xfrm>
            <a:off x="1224558" y="6882765"/>
            <a:ext cx="12181284" cy="6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en-US" sz="150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Aylıq Satış Trendi Xətti Qrafiki:</a:t>
            </a:r>
            <a:r>
              <a:rPr lang="en-US" sz="150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Bu qrafik satışların il ərzində necə dəyişdiyini göstərərək, pik satış dövrlərini və zəif zamanları müəyyən etməyə imkan verir. Pivot cədvəli ödəniş üsulları və mağaza yerlərinə görə satışların bölgüsünü təfərrüatlı şəkildə göstərir.</a:t>
            </a:r>
            <a:endParaRPr sz="1500" b="0" i="0" u="none" strike="noStrike" cap="none"/>
          </a:p>
        </p:txBody>
      </p:sp>
      <p:sp>
        <p:nvSpPr>
          <p:cNvPr id="2" name="Google Shape;146;p14">
            <a:extLst>
              <a:ext uri="{FF2B5EF4-FFF2-40B4-BE49-F238E27FC236}">
                <a16:creationId xmlns:a16="http://schemas.microsoft.com/office/drawing/2014/main" id="{23FF74D5-74BF-3F25-B914-9AF913067862}"/>
              </a:ext>
            </a:extLst>
          </p:cNvPr>
          <p:cNvSpPr/>
          <p:nvPr/>
        </p:nvSpPr>
        <p:spPr>
          <a:xfrm>
            <a:off x="9857065" y="5085415"/>
            <a:ext cx="3747968" cy="601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850"/>
              <a:buFont typeface="Prata"/>
              <a:buNone/>
            </a:pPr>
            <a:r>
              <a:rPr lang="az-Latn-AZ" sz="1850" b="0" i="0" u="none" strike="noStrike" cap="none" dirty="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Aylar üzrə Satış məbləği ilin ortası artım sonu isə azalma müşahidə edilir.</a:t>
            </a:r>
            <a:endParaRPr sz="1850" b="0" i="0" u="none" strike="noStrike" cap="none" dirty="0"/>
          </a:p>
        </p:txBody>
      </p:sp>
      <p:sp>
        <p:nvSpPr>
          <p:cNvPr id="3" name="Google Shape;147;p14">
            <a:extLst>
              <a:ext uri="{FF2B5EF4-FFF2-40B4-BE49-F238E27FC236}">
                <a16:creationId xmlns:a16="http://schemas.microsoft.com/office/drawing/2014/main" id="{2B7823E4-58E4-4184-111F-4DEACF71C22C}"/>
              </a:ext>
            </a:extLst>
          </p:cNvPr>
          <p:cNvSpPr/>
          <p:nvPr/>
        </p:nvSpPr>
        <p:spPr>
          <a:xfrm>
            <a:off x="9857065" y="6030040"/>
            <a:ext cx="3747968" cy="6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500"/>
              <a:buFont typeface="Raleway"/>
              <a:buNone/>
            </a:pPr>
            <a:r>
              <a:rPr lang="az-Latn-AZ" sz="150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İyun ayı ən yüksək,Noyabr ayı isə ən düşük paya sahibdir</a:t>
            </a:r>
            <a:endParaRPr sz="1500" b="0" i="0" u="none" strike="noStrike" cap="non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3650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/>
          <p:nvPr/>
        </p:nvSpPr>
        <p:spPr>
          <a:xfrm>
            <a:off x="6471642" y="311825"/>
            <a:ext cx="339351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200"/>
              <a:buFont typeface="Prata"/>
              <a:buNone/>
            </a:pPr>
            <a:r>
              <a:rPr lang="en-US" sz="2200" b="0" i="0" u="none" strike="noStrike" cap="non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Qısa Nəticə və Tövsiyələr</a:t>
            </a:r>
            <a:endParaRPr sz="2200" b="0" i="0" u="none" strike="noStrike" cap="none"/>
          </a:p>
        </p:txBody>
      </p:sp>
      <p:sp>
        <p:nvSpPr>
          <p:cNvPr id="158" name="Google Shape;158;p15"/>
          <p:cNvSpPr/>
          <p:nvPr/>
        </p:nvSpPr>
        <p:spPr>
          <a:xfrm>
            <a:off x="6471642" y="836176"/>
            <a:ext cx="7173397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Əldə edilmiş nəticələrə əsasən, e-ticarət performansını daha da yüksəltmək üçün aşağıdakı tövsiyələr irəli sürülür:</a:t>
            </a:r>
            <a:endParaRPr sz="850" b="0" i="0" u="none" strike="noStrike" cap="none"/>
          </a:p>
        </p:txBody>
      </p:sp>
      <p:pic>
        <p:nvPicPr>
          <p:cNvPr id="159" name="Google Shape;159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1642" y="1223129"/>
            <a:ext cx="56674" cy="5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/>
          <p:nvPr/>
        </p:nvSpPr>
        <p:spPr>
          <a:xfrm>
            <a:off x="6641663" y="1145143"/>
            <a:ext cx="2252067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00"/>
              <a:buFont typeface="Prata"/>
              <a:buNone/>
            </a:pPr>
            <a:r>
              <a:rPr lang="en-US" sz="130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Yaş Qrupu üzrə Strategiyası</a:t>
            </a:r>
            <a:endParaRPr sz="1300" b="0" i="0" u="none" strike="noStrike" cap="none"/>
          </a:p>
        </p:txBody>
      </p:sp>
      <p:sp>
        <p:nvSpPr>
          <p:cNvPr id="161" name="Google Shape;161;p15"/>
          <p:cNvSpPr/>
          <p:nvPr/>
        </p:nvSpPr>
        <p:spPr>
          <a:xfrm>
            <a:off x="6641663" y="1425773"/>
            <a:ext cx="700337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Şirkət hazırda yaşlı nəsil tərəfindən etibarlı hesab olunur. Lakin gələcək artım üçün </a:t>
            </a: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18-35 yaş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aralığını hədəfləyən sosial media kampaniyaları (Instagram/TikTok) və gənclərə uyğun məhsul trendləri tətbiq edilməlidir.</a:t>
            </a:r>
            <a:endParaRPr sz="850" b="0" i="0" u="none" strike="noStrike" cap="none"/>
          </a:p>
        </p:txBody>
      </p:sp>
      <p:sp>
        <p:nvSpPr>
          <p:cNvPr id="162" name="Google Shape;162;p15"/>
          <p:cNvSpPr/>
          <p:nvPr/>
        </p:nvSpPr>
        <p:spPr>
          <a:xfrm>
            <a:off x="6641663" y="1828324"/>
            <a:ext cx="7003375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50+ yaş qrupu üçün "Sadiqlik proqramları" (Loyalty programs) yaradaraq bu stabil bazanı qorunmalıdır.</a:t>
            </a:r>
            <a:endParaRPr sz="850" b="0" i="0" u="none" strike="noStrike" cap="none"/>
          </a:p>
        </p:txBody>
      </p:sp>
      <p:pic>
        <p:nvPicPr>
          <p:cNvPr id="163" name="Google Shape;163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1642" y="2314575"/>
            <a:ext cx="56674" cy="5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/>
          <p:nvPr/>
        </p:nvSpPr>
        <p:spPr>
          <a:xfrm>
            <a:off x="6641663" y="2236589"/>
            <a:ext cx="3190280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00"/>
              <a:buFont typeface="Prata"/>
              <a:buNone/>
            </a:pPr>
            <a:r>
              <a:rPr lang="en-US" sz="130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Ödəniş Üsullarının Optimallaşdırılması</a:t>
            </a:r>
            <a:endParaRPr sz="1300" b="0" i="0" u="none" strike="noStrike" cap="none"/>
          </a:p>
        </p:txBody>
      </p:sp>
      <p:sp>
        <p:nvSpPr>
          <p:cNvPr id="165" name="Google Shape;165;p15"/>
          <p:cNvSpPr/>
          <p:nvPr/>
        </p:nvSpPr>
        <p:spPr>
          <a:xfrm>
            <a:off x="6641663" y="2517219"/>
            <a:ext cx="700337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Kart ödənişlərini təşviq edin: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Rəqəmsal ödənişlərin payını artırmaq üçün kartla ödəniş edənlərə 2-3% əlavə "Cashback" və ya endirim təklif edilməlidir. Bu, şirkətin kassa əməliyyatlarını azaldar və pul dövriyyəsini sürətləndirər.</a:t>
            </a:r>
            <a:endParaRPr sz="850" b="0" i="0" u="none" strike="noStrike" cap="none"/>
          </a:p>
        </p:txBody>
      </p:sp>
      <p:sp>
        <p:nvSpPr>
          <p:cNvPr id="166" name="Google Shape;166;p15"/>
          <p:cNvSpPr/>
          <p:nvPr/>
        </p:nvSpPr>
        <p:spPr>
          <a:xfrm>
            <a:off x="6641663" y="2919770"/>
            <a:ext cx="700337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Köçürmə payının yüksək olması B2B (şirkətlərarası) satışların çox olduğunu göstərir. Bu seqment üçün korporativ paketlər hazırlanmalıdır.</a:t>
            </a:r>
            <a:endParaRPr sz="850" b="0" i="0" u="none" strike="noStrike" cap="none"/>
          </a:p>
        </p:txBody>
      </p:sp>
      <p:pic>
        <p:nvPicPr>
          <p:cNvPr id="167" name="Google Shape;167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1642" y="3569732"/>
            <a:ext cx="56674" cy="5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5"/>
          <p:cNvSpPr/>
          <p:nvPr/>
        </p:nvSpPr>
        <p:spPr>
          <a:xfrm>
            <a:off x="6641663" y="3509486"/>
            <a:ext cx="2625923" cy="17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Prata"/>
              <a:buNone/>
            </a:pPr>
            <a:r>
              <a:rPr lang="en-US" sz="110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Mövsümi Kampaniyaların Planlanması</a:t>
            </a:r>
            <a:endParaRPr sz="1100" b="0" i="0" u="none" strike="noStrike" cap="none"/>
          </a:p>
        </p:txBody>
      </p:sp>
      <p:sp>
        <p:nvSpPr>
          <p:cNvPr id="169" name="Google Shape;169;p15"/>
          <p:cNvSpPr/>
          <p:nvPr/>
        </p:nvSpPr>
        <p:spPr>
          <a:xfrm>
            <a:off x="6641663" y="3754636"/>
            <a:ext cx="7003375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Müşahidə: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Satışlar 7-ci (İyul) və 10-cu (Oktyabr) aylarda pik həddə çatır, lakin 11-ci (Noyabr) və 2-ci (Fevral) aylarda kəskin azalır.</a:t>
            </a:r>
            <a:endParaRPr sz="850" b="0" i="0" u="none" strike="noStrike" cap="none"/>
          </a:p>
        </p:txBody>
      </p:sp>
      <p:sp>
        <p:nvSpPr>
          <p:cNvPr id="170" name="Google Shape;170;p15"/>
          <p:cNvSpPr/>
          <p:nvPr/>
        </p:nvSpPr>
        <p:spPr>
          <a:xfrm>
            <a:off x="6641663" y="3975735"/>
            <a:ext cx="7003375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lang="en-US" sz="850" b="1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Tövsiyə</a:t>
            </a:r>
            <a:r>
              <a:rPr lang="en-US" sz="850" b="1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850" b="0" i="0" u="none" strike="noStrike" cap="none" dirty="0"/>
          </a:p>
        </p:txBody>
      </p:sp>
      <p:sp>
        <p:nvSpPr>
          <p:cNvPr id="171" name="Google Shape;171;p15"/>
          <p:cNvSpPr/>
          <p:nvPr/>
        </p:nvSpPr>
        <p:spPr>
          <a:xfrm>
            <a:off x="6641663" y="4196834"/>
            <a:ext cx="700337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Noyabr</a:t>
            </a:r>
            <a:r>
              <a:rPr lang="en-US" sz="850" b="1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1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durğunluğu</a:t>
            </a:r>
            <a:r>
              <a:rPr lang="en-US" sz="850" b="1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E-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ticarətdə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Noyabr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ayı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normalda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"Black Friday"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səbəbilə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ən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aktiv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ay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olmalıdır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Qrafikdəki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düşüş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şirkətin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bu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kampaniyalardan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kənarda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qaldığını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göstərir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Noyabr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ayı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üçün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genişmiqyaslı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kampaniyalar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850" b="0" i="0" u="none" strike="noStrike" cap="none" dirty="0" err="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planlayın</a:t>
            </a:r>
            <a:r>
              <a:rPr lang="en-US" sz="850" b="0" i="0" u="none" strike="noStrike" cap="none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850" b="0" i="0" u="none" strike="noStrike" cap="none" dirty="0"/>
          </a:p>
        </p:txBody>
      </p:sp>
      <p:sp>
        <p:nvSpPr>
          <p:cNvPr id="172" name="Google Shape;172;p15"/>
          <p:cNvSpPr/>
          <p:nvPr/>
        </p:nvSpPr>
        <p:spPr>
          <a:xfrm>
            <a:off x="6641663" y="4599384"/>
            <a:ext cx="7003375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Aktiv aylar: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İyul və Oktyabr aylarındakı uğuru digər aylara yaymaq üçün mövsümi endirimlər tətbiq edin.</a:t>
            </a:r>
            <a:endParaRPr sz="850" b="0" i="0" u="none" strike="noStrike" cap="none"/>
          </a:p>
        </p:txBody>
      </p:sp>
      <p:pic>
        <p:nvPicPr>
          <p:cNvPr id="173" name="Google Shape;173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1642" y="5085636"/>
            <a:ext cx="56674" cy="5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/>
          <p:nvPr/>
        </p:nvSpPr>
        <p:spPr>
          <a:xfrm>
            <a:off x="6641663" y="5007650"/>
            <a:ext cx="2612708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00"/>
              <a:buFont typeface="Prata"/>
              <a:buNone/>
            </a:pPr>
            <a:r>
              <a:rPr lang="en-US" sz="1300" b="0" i="0" u="none" strike="noStrike" cap="non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Qaytarılma Səbəblərinin Analizi</a:t>
            </a:r>
            <a:endParaRPr sz="1300" b="0" i="0" u="none" strike="noStrike" cap="none"/>
          </a:p>
        </p:txBody>
      </p:sp>
      <p:sp>
        <p:nvSpPr>
          <p:cNvPr id="175" name="Google Shape;175;p15"/>
          <p:cNvSpPr/>
          <p:nvPr/>
        </p:nvSpPr>
        <p:spPr>
          <a:xfrm>
            <a:off x="6641663" y="5288280"/>
            <a:ext cx="7003375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Müşahidə: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Ümumi 19%-lik qaytarılmanın əsas drayverləri bunlardır:</a:t>
            </a:r>
            <a:endParaRPr sz="850" b="0" i="0" u="none" strike="noStrike" cap="none"/>
          </a:p>
        </p:txBody>
      </p:sp>
      <p:sp>
        <p:nvSpPr>
          <p:cNvPr id="176" name="Google Shape;176;p15"/>
          <p:cNvSpPr/>
          <p:nvPr/>
        </p:nvSpPr>
        <p:spPr>
          <a:xfrm>
            <a:off x="6641663" y="5509379"/>
            <a:ext cx="7003375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Müştəri Narazılığı (37%):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Müştərinin gözləntisi ilə real məhsul üst-üstə düşmür.</a:t>
            </a:r>
            <a:endParaRPr sz="850" b="0" i="0" u="none" strike="noStrike" cap="none"/>
          </a:p>
        </p:txBody>
      </p:sp>
      <p:sp>
        <p:nvSpPr>
          <p:cNvPr id="177" name="Google Shape;177;p15"/>
          <p:cNvSpPr/>
          <p:nvPr/>
        </p:nvSpPr>
        <p:spPr>
          <a:xfrm>
            <a:off x="6641663" y="5730478"/>
            <a:ext cx="7003375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Yanlış Məhsul Göndərilməsi (36%):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Sifarişin hazırlanması zamanı texniki/insan səhvi.</a:t>
            </a:r>
            <a:endParaRPr sz="850" b="0" i="0" u="none" strike="noStrike" cap="none"/>
          </a:p>
        </p:txBody>
      </p:sp>
      <p:sp>
        <p:nvSpPr>
          <p:cNvPr id="178" name="Google Shape;178;p15"/>
          <p:cNvSpPr/>
          <p:nvPr/>
        </p:nvSpPr>
        <p:spPr>
          <a:xfrm>
            <a:off x="6641663" y="5951577"/>
            <a:ext cx="7003375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Qüsurlu/Defektli Məhsul (27%):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Keyfiyyət nəzarəti və ya daşınma problemi.</a:t>
            </a:r>
            <a:endParaRPr sz="850" b="0" i="0" u="none" strike="noStrike" cap="none"/>
          </a:p>
        </p:txBody>
      </p:sp>
      <p:sp>
        <p:nvSpPr>
          <p:cNvPr id="179" name="Google Shape;179;p15"/>
          <p:cNvSpPr/>
          <p:nvPr/>
        </p:nvSpPr>
        <p:spPr>
          <a:xfrm>
            <a:off x="6641663" y="6172676"/>
            <a:ext cx="7003375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Tövsiyələr:</a:t>
            </a:r>
            <a:endParaRPr sz="850" b="0" i="0" u="none" strike="noStrike" cap="none"/>
          </a:p>
        </p:txBody>
      </p:sp>
      <p:sp>
        <p:nvSpPr>
          <p:cNvPr id="180" name="Google Shape;180;p15"/>
          <p:cNvSpPr/>
          <p:nvPr/>
        </p:nvSpPr>
        <p:spPr>
          <a:xfrm>
            <a:off x="6641663" y="6393775"/>
            <a:ext cx="7003375" cy="54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Logistikanın avtomatlaşdırılması (Yanlış məhsul üçün):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36% çox yüksək göstəricidir və bu birbaşa anbar səhvidir. Anbarda </a:t>
            </a: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barkod (SKU) sisteminin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təkmilləşdirilməsi və "double-check" (ikiqat yoxlama) mexanizminin qurulması bu itkiləri dərhal azalda bilər.</a:t>
            </a:r>
            <a:endParaRPr sz="850" b="0" i="0" u="none" strike="noStrike" cap="none"/>
          </a:p>
        </p:txBody>
      </p:sp>
      <p:sp>
        <p:nvSpPr>
          <p:cNvPr id="181" name="Google Shape;181;p15"/>
          <p:cNvSpPr/>
          <p:nvPr/>
        </p:nvSpPr>
        <p:spPr>
          <a:xfrm>
            <a:off x="6641663" y="6977777"/>
            <a:ext cx="7003375" cy="54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Məhsul Təqdimatının Yaxşılaşdırılması (Narazılıq üçün):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Müştərilərin 37%-i məhsulu bəyənmədiyi üçün qaytarırsa, deməli saytdakı şəkillər və təsvirlər real məhsulu tam əks etdirmir. Sayta </a:t>
            </a: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video-icmallar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və </a:t>
            </a: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real müştəri rəyləri (şəkilli)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bölməsi əlavə edilməlidir.</a:t>
            </a:r>
            <a:endParaRPr sz="850" b="0" i="0" u="none" strike="noStrike" cap="none"/>
          </a:p>
        </p:txBody>
      </p:sp>
      <p:sp>
        <p:nvSpPr>
          <p:cNvPr id="182" name="Google Shape;182;p15"/>
          <p:cNvSpPr/>
          <p:nvPr/>
        </p:nvSpPr>
        <p:spPr>
          <a:xfrm>
            <a:off x="6641663" y="7561778"/>
            <a:ext cx="700337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Keyfiyyət Nəzarəti və Qablaşdırma (Defekt üçün):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27% defekt göstəricisini azaltmaq üçün məhsullar kuryerə verilmədən öncə yoxlanılmalı və xüsusilə kövrək məhsullar üçün </a:t>
            </a:r>
            <a:r>
              <a:rPr lang="en-US" sz="850" b="1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daha davamlı qablaşdırma</a:t>
            </a:r>
            <a:r>
              <a:rPr lang="en-US" sz="850" b="0" i="0" u="none" strike="noStrike" cap="non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materiallarından istifadə edilməlidir.</a:t>
            </a:r>
            <a:endParaRPr sz="85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793790" y="308002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4450"/>
              <a:buFont typeface="Prata"/>
              <a:buNone/>
            </a:pPr>
            <a:r>
              <a:rPr lang="en-US" sz="4450" b="0" i="0" u="none" strike="noStrike" cap="non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Təqdimatın Sonu</a:t>
            </a:r>
            <a:endParaRPr sz="4450" b="0" i="0" u="none" strike="noStrike" cap="none"/>
          </a:p>
        </p:txBody>
      </p:sp>
      <p:sp>
        <p:nvSpPr>
          <p:cNvPr id="190" name="Google Shape;190;p16"/>
          <p:cNvSpPr/>
          <p:nvPr/>
        </p:nvSpPr>
        <p:spPr>
          <a:xfrm>
            <a:off x="793790" y="3879533"/>
            <a:ext cx="6202323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3550"/>
              <a:buFont typeface="Prata"/>
              <a:buNone/>
            </a:pPr>
            <a:r>
              <a:rPr lang="en-US" sz="3550" b="0" i="0" u="none" strike="noStrike" cap="non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Diqqətiniz üçün təşəkkürlər!</a:t>
            </a:r>
            <a:endParaRPr sz="3550" b="0" i="0" u="none" strike="noStrike" cap="none"/>
          </a:p>
        </p:txBody>
      </p:sp>
      <p:sp>
        <p:nvSpPr>
          <p:cNvPr id="191" name="Google Shape;191;p16"/>
          <p:cNvSpPr/>
          <p:nvPr/>
        </p:nvSpPr>
        <p:spPr>
          <a:xfrm>
            <a:off x="793790" y="4786670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endParaRPr sz="175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859</Words>
  <Application>Microsoft Office PowerPoint</Application>
  <PresentationFormat>Custom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Raleway</vt:lpstr>
      <vt:lpstr>Prata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ccr</cp:lastModifiedBy>
  <cp:revision>2</cp:revision>
  <dcterms:modified xsi:type="dcterms:W3CDTF">2026-01-11T10:44:35Z</dcterms:modified>
</cp:coreProperties>
</file>